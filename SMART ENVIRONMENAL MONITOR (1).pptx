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2E41DFE-9218-4822-996E-B2E3295B157B}">
  <a:tblStyle styleId="{A2E41DFE-9218-4822-996E-B2E3295B157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e8a58201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e8a58201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e8a58201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e8a58201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e8a58201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e8a58201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e8a58201b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e8a58201b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e8a58201b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e8a58201b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e8a58201b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e8a58201b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e8a58201b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e8a58201b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e8a58201b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e8a58201b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e8a58201b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e8a58201b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e8a58201b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e8a58201b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e8a58201b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e8a58201b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326275"/>
            <a:ext cx="7391700" cy="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771525" rtl="0" algn="l">
              <a:lnSpc>
                <a:spcPct val="150000"/>
              </a:lnSpc>
              <a:spcBef>
                <a:spcPts val="19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298300" y="1138075"/>
            <a:ext cx="4547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" marR="15875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SMART ENVIRONMENTAL MONITOR</a:t>
            </a:r>
            <a:endParaRPr b="1" sz="2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575375" y="3201925"/>
            <a:ext cx="58419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Real-Time Monitoring of Temperature, Humidity, Soil Moisture &amp; Light Intensity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09100" y="4036475"/>
            <a:ext cx="86349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84074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8947"/>
              <a:buFont typeface="Arial"/>
              <a:buNone/>
            </a:pPr>
            <a:r>
              <a:rPr b="1" lang="en-GB" sz="3800"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sz="3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7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706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8"/>
              <a:buFont typeface="Times New Roman"/>
              <a:buChar char="●"/>
            </a:pPr>
            <a:r>
              <a:rPr lang="en-GB" sz="24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design a low-cost Arduino-based system for real-time environmental monitoring</a:t>
            </a:r>
            <a:endParaRPr sz="240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0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8"/>
              <a:buFont typeface="Times New Roman"/>
              <a:buChar char="●"/>
            </a:pPr>
            <a:r>
              <a:rPr lang="en-GB" sz="24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measure temperature, humidity, soil moisture, and light intensity</a:t>
            </a:r>
            <a:endParaRPr sz="240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0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8"/>
              <a:buFont typeface="Times New Roman"/>
              <a:buChar char="●"/>
            </a:pPr>
            <a:r>
              <a:rPr lang="en-GB" sz="24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display live sensor data on 16x2 LCD with I2C</a:t>
            </a:r>
            <a:endParaRPr sz="240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0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8"/>
              <a:buFont typeface="Times New Roman"/>
              <a:buChar char="●"/>
            </a:pPr>
            <a:r>
              <a:rPr lang="en-GB" sz="24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provide continuous, accurate, and user-friendly environmental data</a:t>
            </a:r>
            <a:endParaRPr sz="240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0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8"/>
              <a:buFont typeface="Times New Roman"/>
              <a:buChar char="●"/>
            </a:pPr>
            <a:r>
              <a:rPr lang="en-GB" sz="24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support applications in agriculture, greenhouse management, and smart homes</a:t>
            </a:r>
            <a:endParaRPr sz="240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8947"/>
              <a:buFont typeface="Arial"/>
              <a:buNone/>
            </a:pPr>
            <a:r>
              <a:rPr b="1" lang="en-GB" sz="38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3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0" y="694125"/>
            <a:ext cx="8958600" cy="41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12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GB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Environmental monitoring is essential for agriculture, climate studies, and smart systems.</a:t>
            </a:r>
            <a:endParaRPr sz="9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presents a smart embedded system that continuously tracks key parameters:</a:t>
            </a:r>
            <a:endParaRPr sz="9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	Temperature and humidity</a:t>
            </a:r>
            <a:endParaRPr sz="9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	 Soil moisture content</a:t>
            </a:r>
            <a:endParaRPr sz="9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	 Light intensity</a:t>
            </a:r>
            <a:endParaRPr sz="9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Arduino microcontroller collects real-time data from multiple sensors and displays it instantly on the LCD.</a:t>
            </a:r>
            <a:endParaRPr sz="9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is simple, cost-effective, and provides reliable environmental insights without manual effort</a:t>
            </a:r>
            <a:endParaRPr sz="9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238475" y="155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GB" sz="3420">
                <a:latin typeface="Times New Roman"/>
                <a:ea typeface="Times New Roman"/>
                <a:cs typeface="Times New Roman"/>
                <a:sym typeface="Times New Roman"/>
              </a:rPr>
              <a:t>Components Used</a:t>
            </a:r>
            <a:endParaRPr b="1" sz="34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5732700" y="1089800"/>
            <a:ext cx="3099600" cy="35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Components:</a:t>
            </a:r>
            <a:endParaRPr b="1" sz="2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782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50"/>
              <a:buFont typeface="Times New Roman"/>
              <a:buChar char="●"/>
            </a:pPr>
            <a:r>
              <a:rPr lang="en-GB" sz="2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IDE</a:t>
            </a:r>
            <a:endParaRPr sz="2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78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50"/>
              <a:buFont typeface="Times New Roman"/>
              <a:buChar char="●"/>
            </a:pPr>
            <a:r>
              <a:rPr lang="en-GB" sz="2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Embedded C Programming</a:t>
            </a:r>
            <a:endParaRPr sz="2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2" type="body"/>
          </p:nvPr>
        </p:nvSpPr>
        <p:spPr>
          <a:xfrm>
            <a:off x="238475" y="885425"/>
            <a:ext cx="5024100" cy="35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-GB" sz="22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Components:</a:t>
            </a:r>
            <a:endParaRPr b="1" sz="225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1951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8"/>
              <a:buFont typeface="Times New Roman"/>
              <a:buChar char="●"/>
            </a:pPr>
            <a:r>
              <a:rPr lang="en-GB" sz="22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Uno</a:t>
            </a:r>
            <a:endParaRPr sz="225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195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8"/>
              <a:buFont typeface="Times New Roman"/>
              <a:buChar char="●"/>
            </a:pPr>
            <a:r>
              <a:rPr lang="en-GB" sz="22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DHT11 Temperature &amp; Humidity Sensor</a:t>
            </a:r>
            <a:endParaRPr sz="225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195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8"/>
              <a:buFont typeface="Times New Roman"/>
              <a:buChar char="●"/>
            </a:pPr>
            <a:r>
              <a:rPr lang="en-GB" sz="22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Soil Moisture Sensor</a:t>
            </a:r>
            <a:endParaRPr sz="225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195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8"/>
              <a:buFont typeface="Times New Roman"/>
              <a:buChar char="●"/>
            </a:pPr>
            <a:r>
              <a:rPr lang="en-GB" sz="22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LDR (Light Dependent Resistor) Module</a:t>
            </a:r>
            <a:endParaRPr sz="225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195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8"/>
              <a:buFont typeface="Times New Roman"/>
              <a:buChar char="●"/>
            </a:pPr>
            <a:r>
              <a:rPr lang="en-GB" sz="22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16x2 LCD Display with I2C Module</a:t>
            </a:r>
            <a:endParaRPr sz="225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195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8"/>
              <a:buFont typeface="Times New Roman"/>
              <a:buChar char="●"/>
            </a:pPr>
            <a:r>
              <a:rPr lang="en-GB" sz="22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Breadboard &amp; Jumper Wires</a:t>
            </a:r>
            <a:endParaRPr sz="225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195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8"/>
              <a:buFont typeface="Times New Roman"/>
              <a:buChar char="●"/>
            </a:pPr>
            <a:r>
              <a:rPr lang="en-GB" sz="225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Supply</a:t>
            </a:r>
            <a:endParaRPr sz="225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29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340625" y="319200"/>
            <a:ext cx="46836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Circuit </a:t>
            </a:r>
            <a:r>
              <a:rPr b="1" lang="en-GB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Connection</a:t>
            </a:r>
            <a:endParaRPr b="1"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82" name="Google Shape;82;p17"/>
          <p:cNvGraphicFramePr/>
          <p:nvPr/>
        </p:nvGraphicFramePr>
        <p:xfrm>
          <a:off x="731675" y="187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{A2E41DFE-9218-4822-996E-B2E3295B157B}</a:tableStyleId>
              </a:tblPr>
              <a:tblGrid>
                <a:gridCol w="1465025"/>
                <a:gridCol w="1822675"/>
              </a:tblGrid>
              <a:tr h="601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2000"/>
                        <a:t>LCD pin 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/>
                        <a:t>Arduino uno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601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/>
                        <a:t>VCC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5V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44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GND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GND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57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SDA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A4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57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SCL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A5</a:t>
                      </a:r>
                      <a:endParaRPr sz="2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3" name="Google Shape;83;p17"/>
          <p:cNvSpPr txBox="1"/>
          <p:nvPr/>
        </p:nvSpPr>
        <p:spPr>
          <a:xfrm>
            <a:off x="731675" y="1098525"/>
            <a:ext cx="32877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16x2 LCD with I2C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572000" y="1107063"/>
            <a:ext cx="32190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DHT11 Sensor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85" name="Google Shape;85;p17"/>
          <p:cNvGraphicFramePr/>
          <p:nvPr/>
        </p:nvGraphicFramePr>
        <p:xfrm>
          <a:off x="4572000" y="187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{A2E41DFE-9218-4822-996E-B2E3295B157B}</a:tableStyleId>
              </a:tblPr>
              <a:tblGrid>
                <a:gridCol w="1890475"/>
                <a:gridCol w="1729025"/>
              </a:tblGrid>
              <a:tr h="59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DHT11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Arduino pin</a:t>
                      </a:r>
                      <a:endParaRPr sz="2200"/>
                    </a:p>
                  </a:txBody>
                  <a:tcPr marT="91425" marB="91425" marR="91425" marL="91425"/>
                </a:tc>
              </a:tr>
              <a:tr h="57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VCC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5V</a:t>
                      </a:r>
                      <a:endParaRPr sz="2200"/>
                    </a:p>
                  </a:txBody>
                  <a:tcPr marT="91425" marB="91425" marR="91425" marL="91425"/>
                </a:tc>
              </a:tr>
              <a:tr h="57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GND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GND</a:t>
                      </a:r>
                      <a:endParaRPr sz="2200"/>
                    </a:p>
                  </a:txBody>
                  <a:tcPr marT="91425" marB="91425" marR="91425" marL="91425"/>
                </a:tc>
              </a:tr>
              <a:tr h="57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DATA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Digital Pin 2</a:t>
                      </a:r>
                      <a:endParaRPr sz="2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/>
        </p:nvSpPr>
        <p:spPr>
          <a:xfrm>
            <a:off x="630300" y="647200"/>
            <a:ext cx="31338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●"/>
            </a:pPr>
            <a:r>
              <a:rPr lang="en-GB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LDR Module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4666600" y="766400"/>
            <a:ext cx="38322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Soil Moisture sensor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2" name="Google Shape;92;p18"/>
          <p:cNvGraphicFramePr/>
          <p:nvPr/>
        </p:nvGraphicFramePr>
        <p:xfrm>
          <a:off x="630300" y="180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{A2E41DFE-9218-4822-996E-B2E3295B157B}</a:tableStyleId>
              </a:tblPr>
              <a:tblGrid>
                <a:gridCol w="1618050"/>
                <a:gridCol w="1618050"/>
              </a:tblGrid>
              <a:tr h="707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/>
                        <a:t>LDR</a:t>
                      </a:r>
                      <a:endParaRPr sz="2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/>
                        <a:t>Arduino</a:t>
                      </a:r>
                      <a:endParaRPr sz="2100"/>
                    </a:p>
                  </a:txBody>
                  <a:tcPr marT="91425" marB="91425" marR="91425" marL="91425"/>
                </a:tc>
              </a:tr>
              <a:tr h="67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/>
                        <a:t>VCC</a:t>
                      </a:r>
                      <a:endParaRPr sz="2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/>
                        <a:t>5V</a:t>
                      </a:r>
                      <a:endParaRPr sz="2100"/>
                    </a:p>
                  </a:txBody>
                  <a:tcPr marT="91425" marB="91425" marR="91425" marL="91425"/>
                </a:tc>
              </a:tr>
              <a:tr h="67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/>
                        <a:t>GND</a:t>
                      </a:r>
                      <a:endParaRPr sz="2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/>
                        <a:t>GND</a:t>
                      </a:r>
                      <a:endParaRPr sz="2100"/>
                    </a:p>
                  </a:txBody>
                  <a:tcPr marT="91425" marB="91425" marR="91425" marL="91425"/>
                </a:tc>
              </a:tr>
              <a:tr h="67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/>
                        <a:t>A0</a:t>
                      </a:r>
                      <a:endParaRPr sz="2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/>
                        <a:t>Analog pin A0</a:t>
                      </a:r>
                      <a:endParaRPr sz="2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93" name="Google Shape;93;p18"/>
          <p:cNvGraphicFramePr/>
          <p:nvPr/>
        </p:nvGraphicFramePr>
        <p:xfrm>
          <a:off x="4666600" y="1798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{A2E41DFE-9218-4822-996E-B2E3295B157B}</a:tableStyleId>
              </a:tblPr>
              <a:tblGrid>
                <a:gridCol w="1717400"/>
                <a:gridCol w="1717400"/>
              </a:tblGrid>
              <a:tr h="70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</a:rPr>
                        <a:t>Sensor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</a:rPr>
                        <a:t>Arduino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7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</a:rPr>
                        <a:t>VCC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</a:rPr>
                        <a:t>5V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0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</a:rPr>
                        <a:t>GND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</a:rPr>
                        <a:t>GND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7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</a:rPr>
                        <a:t>A0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</a:rPr>
                        <a:t>Analog pin A1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143850" y="1669075"/>
            <a:ext cx="8856300" cy="252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To develop a reliable, low-cost Smart Environmental Monitor using Arduino Uno for continuous tracking of environmental parameters.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System Monitors: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Temperature &amp; Humidity (DHT11)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Soil Moisture level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Light Intensity (LDR)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Output: Real-time values displayed on 16x2 LCD Clear, continuous environmental status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17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40"/>
          </a:p>
        </p:txBody>
      </p:sp>
      <p:sp>
        <p:nvSpPr>
          <p:cNvPr id="99" name="Google Shape;99;p19"/>
          <p:cNvSpPr txBox="1"/>
          <p:nvPr/>
        </p:nvSpPr>
        <p:spPr>
          <a:xfrm>
            <a:off x="-111625" y="102225"/>
            <a:ext cx="4257900" cy="6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chemeClr val="dk2"/>
                </a:solidFill>
              </a:rPr>
              <a:t>  </a:t>
            </a:r>
            <a:r>
              <a:rPr b="1" lang="en-GB" sz="3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work</a:t>
            </a:r>
            <a:endParaRPr b="1" sz="3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182200" y="155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8947"/>
              <a:buFont typeface="Arial"/>
              <a:buNone/>
            </a:pPr>
            <a:r>
              <a:rPr b="1" lang="en-GB" sz="3800">
                <a:latin typeface="Times New Roman"/>
                <a:ea typeface="Times New Roman"/>
                <a:cs typeface="Times New Roman"/>
                <a:sym typeface="Times New Roman"/>
              </a:rPr>
              <a:t>Working Principle</a:t>
            </a:r>
            <a:endParaRPr b="1" sz="3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182200" y="830350"/>
            <a:ext cx="9144000" cy="44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</a:rPr>
              <a:t>    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DHT11, Soil Moisture, and LDR sensors continuously collect environmental data.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Uno reads: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Temperature (°C) and Humidity (%) from DHT11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Moisture percentage from Soil Moisture Sensor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 intensity value from LDR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microcontroller processes the data using ADC and built-in functions.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values are instantly shown on the 16x2 LCD in real time..The system runs continuously and updates the display without any de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420"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  <a:endParaRPr b="1" sz="34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Agriculture &amp; Irrigation Management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Greenhouses and Nurseries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Homes and Indoor Gardening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Schools, Colleges &amp; Research Labs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Environmental Studies and Climate Monitoring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Industrial and Warehouse Monitoring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Ideal for any scenario requiring continuous, real-time environmental data.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206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420"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1" sz="34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203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Multi-sensor real-time monitoring (Temperature + Humidity + Soil Moisture + Light)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 visual output on 16x2 LCD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Low-cost and easy-to-build design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wiring and compact setup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accuracy with proper calibration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power consumption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Easily expandable for IoT or automatic irrigation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22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42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34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9821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Smart Environmental Monitor using Arduino Uno, DHT11, Soil Moisture Sensor, LDR, and 16x2 LCD successfully provides real-time data of temperature, humidity, soil moisture, and light intensity.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is cost-effective, reliable, and highly suitable for agriculture, greenhouse, and environmental applications.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demonstrates the practical use of embedded systems for efficient resource management and automation.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42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 sz="34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86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Official Documentation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DHT11 Sensor Datasheet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Soil Moisture Sensor Datasheet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LDR Module Datasheet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LiquidCrystal_I2C Library Documentation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